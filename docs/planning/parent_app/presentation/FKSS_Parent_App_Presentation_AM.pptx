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መግቢያ፡ ይህ የመተግበሪያው የመጀመሪያ ዕቅድ ገለጻ ነው። የሚታዩት ገጾች የንድፍ ናሙናዎች (mockups) ናቸው፤ ገና አልተገነባም። ዓላማው ከወላጆች አስተያየት መሰብሰብ ነው።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ሦስቱ ዋና ዋና ጥቅሞች፡ መረጃ፣ ተሳትፎ፣ መተማመን። መተግበሪያው መምህራንን አይተካም፤ የቤተሰብና የትምህርት ቤቱን ግንኙነት ያጠናክራል።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በቀጣዮቹ ገጾች እያንዳንዱን ባህሪ ከስልክ ገጽ ናሙና ጋር እናያለን።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ማግበር የሚደረገው በአካል ብቻ ነው። ይህ ለደህንነት እንጂ ለማስቸገር አይደለም፡ የማን ልጅ መረጃ ማን እንደሚያይ በእርግጠኝነት እናውቃለን።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መነሻ ገጹ በየእሑዱ ለመመለስ ምክንያት ይሰጣል፡ የዛሬው ትምህርትና ክትትል ሁልጊዜ ከላይ ናቸው።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ይህ የመተግበሪያው ልብ ነው። መምህሩ ረጅም ሪፖርት አይጽፍም፤ ትምህርቱን ያረጋግጣል፣ መልዕክቱ ራሱ በልጁ ስም ይዘጋጃል።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ክትትሉ ከነባሩ የሰ/ት/ቤት መዝገብ ነው የሚመጣው፤ አዲስ መዝገብ አይፈጠርም። «መቼ እንደተዘመነ» ሁልጊዜ ይታያል።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ሪፖርቱ የልጁን እድገት አይፈጥርም። የታቀደ ትምህርት፣ የተረጋገጠ ትምህርት፣ መገኘትና በግል የተገመገመ ትምህርት ተለያይተው ይቀርባሉ።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ለግላዊነት ትኩረት ይስጡ፡ የቤተሰብ መረጃ፣ የሪፖርት ካርዶችና የባህሪ ምልከታዎች ለተፈቀደላቸው ሠራተኞችና ለቤተሰቡ ብቻ ናቸው።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የግል ጉዳዮች ከአጠቃላይ የክፍል ማስታወቂያ ተለይተው ይቀመጣሉ። ይህ ባህሪ በሁለተኛው ምዕራፍ ይመጣል።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ይህ ገጽ ሰንበት ትምህርት ቤቱን ከቤተሰብ ጋር በደስታ ጊዜያትም ያገናኛል።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ተመሳሳይ ማሳወቂያ ሁለት ጊዜ አይላክም። ሙሉ መልዕክቱ የሚታየው ከገቡ በኋላ ብቻ ነው።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የመለያ ቁጥጥር በወላጁ እጅ ነው፤ የተጠሪነት ለውጥ ግን በትምህርት ቤቱ ፈቃድ ብቻ ይደረጋል።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ማግበር በአካል ብቻ፡ ይህ የደህንነት መሠረታችን ነው። ለመጀመሪያ ጊዜ ስማርት ስልክ ለሚጠቀሙ ወላጆች በቢሮው እገዛ ይደረጋል።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በጣም አስፈላጊው መልዕክት፡ የቤተሰብ መረጃ የግል ነው። ወላጆች ይህን ሲያምኑ ብቻ አስተያየት በነጻነት ይሰጣሉ።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ምዕራፍ 1 ብቻ ነው ቀጣዩ ሥራ። የሚታዩት ገጾች የምዕራፍ 1 እና 2 ናቸው።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ለጥያቄና አስተያየት ጊዜ ይስጡ። ከወላጆች የተሰበሰበ አስተያየት ወደ ምዕራፍ 1 ዕቅድ ይገባል።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822960"/>
            <a:ext cx="5120640" cy="5120640"/>
          </a:xfrm>
          <a:prstGeom prst="ellipse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685800"/>
            <a:ext cx="2788920" cy="5577840"/>
          </a:xfrm>
          <a:prstGeom prst="rect">
            <a:avLst/>
          </a:prstGeom>
        </p:spPr>
      </p:pic>
      <p:pic>
        <p:nvPicPr>
          <p:cNvPr id="6" name="Picture 5" descr="logo_circle_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377440"/>
            <a:ext cx="7132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3B341"/>
                </a:solidFill>
                <a:latin typeface="Ebrima"/>
              </a:rPr>
              <a:t>የፈለገ ቅዱሳን ሰንበት ትምህርት ቤት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73152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Ebrima"/>
              </a:rPr>
              <a:t>የወላጆች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Ebrima"/>
              </a:rPr>
              <a:t>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7132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6E7BD"/>
                </a:solidFill>
                <a:latin typeface="Ebrima"/>
              </a:rPr>
              <a:t>«ልጄ ዛሬ ምን ተማረ?» — ቤተሰብንና ሰንበት ትምህርት ቤትን የሚያገናኝ መተግበሪያ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7132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6E7BD"/>
                </a:solidFill>
                <a:latin typeface="Ebrima"/>
              </a:rPr>
              <a:t>ለወላጆች የቀረበ መግቢያ  ·  ጥቅምት 2019 ዓ.ም.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ዓላማ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ለምን የወላጆች መተግበሪያ?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B1B1C"/>
                </a:solidFill>
                <a:latin typeface="Ebrima"/>
              </a:rPr>
              <a:t>ወላጆች ስለ ልጆቻቸው መንፈሳዊ ትምህርት፣ ክትትልና እድገት በየሳምንቱ መረጃ እንዲያገኙ፣ እንዲሳተፉና እንዲተማመኑ ማድረግ — ቀላልና ለሁሉም የሚመች በሆነ መንገድ።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3429000" cy="9144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1B1C"/>
                </a:solidFill>
                <a:latin typeface="Segoe UI Emoji"/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521016"/>
                </a:solidFill>
                <a:latin typeface="Ebrima"/>
              </a:rPr>
              <a:t>መረጃ ያግኙ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30175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1B1C"/>
                </a:solidFill>
                <a:latin typeface="Ebrima"/>
              </a:rPr>
              <a:t>ልጅዎ በየእሑዱ ምን እንደተማረ፣ መገኘቱንና ወርሃዊ እድገቱን በስልክዎ ላይ ይመልከቱ።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834640"/>
            <a:ext cx="3429000" cy="9144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1B1C"/>
                </a:solidFill>
                <a:latin typeface="Segoe UI Emoj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521016"/>
                </a:solidFill>
                <a:latin typeface="Ebrima"/>
              </a:rPr>
              <a:t>ይሳተፉ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30175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1B1C"/>
                </a:solidFill>
                <a:latin typeface="Ebrima"/>
              </a:rPr>
              <a:t>በቤት ውስጥ ትምህርቱን ለማጠናከር ጥያቄዎችን ይቀበሉ፣ ለመምህሩ አስተያየት ይስጡ፣ በቀጥታ ይነጋገሩ።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283464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2834640"/>
            <a:ext cx="3429000" cy="9144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306324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2B1B1C"/>
                </a:solidFill>
                <a:latin typeface="Segoe UI Emoji"/>
              </a:rP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70332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521016"/>
                </a:solidFill>
                <a:latin typeface="Ebrima"/>
              </a:rPr>
              <a:t>ይተማመኑ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206240"/>
            <a:ext cx="30175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1B1C"/>
                </a:solidFill>
                <a:latin typeface="Ebrima"/>
              </a:rPr>
              <a:t>የቤተሰብዎ መረጃ ለተፈቀደላቸው ሰዎች ብቻ ነው። ኢሜይል ወይም ኤስኤምኤስ ሳያስፈልግ፣ በአካል በተሰጠ መለያ ይገባሉ።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አጠቃላይ እይታ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ዋና ዋና ባህሪያት በአንድ እይታ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210311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3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5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ቀላልና ደህንነቱ የተጠበቀ መግቢያ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2023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87451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210311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14883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8035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የቤተሰብ መነሻ ገጽ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92023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7451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210311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4883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8035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«ልጄ ዛሬ ምን ተማረ?»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92023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87451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0" y="210311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14883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88035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የክትትል መዝገብ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92023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87451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7000" y="210311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14883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88035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ወርሃዊ ሪፖርት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92023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97763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25880" y="420623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425195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8347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የወላጅ አስተያየት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2335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0360" y="397763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66160" y="420623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425195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498347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ከመምህር ጋር መልዕክት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02335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0" y="397763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06440" y="420623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425195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✝️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498347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በዓላትና ማስታወቂያዎች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02335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397763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46720" y="420623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25195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98347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ማሳወቂያዎች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402335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3977639"/>
            <a:ext cx="2057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87000" y="4206239"/>
            <a:ext cx="685800" cy="6858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4251959"/>
            <a:ext cx="685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1B1C"/>
                </a:solidFill>
                <a:latin typeface="Segoe UI Emoji"/>
              </a:rPr>
              <a:t>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4983479"/>
            <a:ext cx="187451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521016"/>
                </a:solidFill>
                <a:latin typeface="Ebrima"/>
              </a:rPr>
              <a:t>መለያና ቅንብሮች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023359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6A6B"/>
                </a:solidFill>
                <a:latin typeface="Ebrima"/>
              </a:rPr>
              <a:t>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1 · መግቢያ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መለያ ማግበርና መግቢያ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ac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በአካል የሚሰጥ መለያ፡</a:t>
            </a:r>
            <a:r>
              <a:rPr sz="1500">
                <a:solidFill>
                  <a:srgbClr val="2B1B1C"/>
                </a:solidFill>
                <a:latin typeface="Ebrima"/>
              </a:rPr>
              <a:t>  የወላጅ መታወቂያ ቁጥርና የአንድ ጊዜ ማግበሪያ ኮድ ከሰ/ት/ቤቱ ምዝገባ ቢሮ ይቀበላሉ።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ኢሜይል ወይም ኤስኤምኤስ አያስፈልግም፡</a:t>
            </a:r>
            <a:r>
              <a:rPr sz="1500">
                <a:solidFill>
                  <a:srgbClr val="2B1B1C"/>
                </a:solidFill>
                <a:latin typeface="Ebrima"/>
              </a:rPr>
              <a:t>  ስልክ ቁጥር የሌላቸው ቤተሰቦችም መጠቀም ይችላሉ።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በየቀኑ ቀላል መግቢያ፡</a:t>
            </a:r>
            <a:r>
              <a:rPr sz="1500">
                <a:solidFill>
                  <a:srgbClr val="2B1B1C"/>
                </a:solidFill>
                <a:latin typeface="Ebrima"/>
              </a:rPr>
              <a:t>  ስልክዎ እንደ ታማኝ መሣሪያ ይመዘገባል፤ በጣት አሻራ ወይም በስልክ ፒን ይገባሉ።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የይለፍ ቃል ከረሱ፡</a:t>
            </a:r>
            <a:r>
              <a:rPr sz="1500">
                <a:solidFill>
                  <a:srgbClr val="2B1B1C"/>
                </a:solidFill>
                <a:latin typeface="Ebrima"/>
              </a:rPr>
              <a:t>  ወደ ቢሮ በአካል መጥተው ያድሳሉ። የጠፋ ስልክ መዳረሻ ወዲያውኑ ሊሰረዝ ይችላል።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አማርኛ ወይም English፡</a:t>
            </a:r>
            <a:r>
              <a:rPr sz="1500">
                <a:solidFill>
                  <a:srgbClr val="2B1B1C"/>
                </a:solidFill>
                <a:latin typeface="Ebrima"/>
              </a:rPr>
              <a:t>  ቋንቋ በመግቢያው ላይ ይመረጣል።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2 · መነሻ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የቤተሰብ መነሻ ገጽ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ሁሉም ልጆችዎ በአንድ ቦታ፡</a:t>
            </a:r>
            <a:r>
              <a:rPr sz="1500">
                <a:solidFill>
                  <a:srgbClr val="2B1B1C"/>
                </a:solidFill>
                <a:latin typeface="Ebrima"/>
              </a:rPr>
              <a:t>  ከአንድ በላይ ልጅ ካለዎት በካርዶች መካከል ይቀያይራሉ።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የወሩ ክትትል በአንድ እይታ፡</a:t>
            </a:r>
            <a:r>
              <a:rPr sz="1500">
                <a:solidFill>
                  <a:srgbClr val="2B1B1C"/>
                </a:solidFill>
                <a:latin typeface="Ebrima"/>
              </a:rPr>
              <a:t>  የተገኙባቸው እሑዶች፣ ቀሪና ምክንያት ሁኔታ።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የዛሬው ትምህርት፡</a:t>
            </a:r>
            <a:r>
              <a:rPr sz="1500">
                <a:solidFill>
                  <a:srgbClr val="2B1B1C"/>
                </a:solidFill>
                <a:latin typeface="Ebrima"/>
              </a:rPr>
              <a:t>  የመጨረሻው የትምህርት መልዕክት ወዲያውኑ ይታያል።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ፈጣን መዳረሻ፡</a:t>
            </a:r>
            <a:r>
              <a:rPr sz="1500">
                <a:solidFill>
                  <a:srgbClr val="2B1B1C"/>
                </a:solidFill>
                <a:latin typeface="Ebrima"/>
              </a:rPr>
              <a:t>  ትምህርቶች · ክትትል · ሪፖርቶች · መልዕክቶች።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የሚጠብቁዎት ነገሮች፡</a:t>
            </a:r>
            <a:r>
              <a:rPr sz="1500">
                <a:solidFill>
                  <a:srgbClr val="2B1B1C"/>
                </a:solidFill>
                <a:latin typeface="Ebrima"/>
              </a:rPr>
              <a:t>  ያልተመለሱ የአስተያየት ጥያቄዎች፣ አዲስ ሪፖርቶች፣ የሚመጡ በዓላት።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3 · ዕለታዊ የትምህርት መልዕክት — ዋናው ባህሪ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«ልጄ ዛሬ ምን ተማረ?»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daily_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በልጅዎ ስም የተዘጋጀ መልዕክት፡</a:t>
            </a:r>
            <a:r>
              <a:rPr sz="1500">
                <a:solidFill>
                  <a:srgbClr val="2B1B1C"/>
                </a:solidFill>
                <a:latin typeface="Ebrima"/>
              </a:rPr>
              <a:t>  ቀን፣ የትምህርት ዓይነት፣ ርዕስና አጭር ማብራሪያ — በትክክለኛ የአማርኛ ሰዋስው።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በመምህሩ የተረጋገጠ፡</a:t>
            </a:r>
            <a:r>
              <a:rPr sz="1500">
                <a:solidFill>
                  <a:srgbClr val="2B1B1C"/>
                </a:solidFill>
                <a:latin typeface="Ebrima"/>
              </a:rPr>
              <a:t>  መልዕክቱ የሚላከው በእውነት ስለተሰጠው ትምህርት እንጂ ስለታቀደው ብቻ አይደለም።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በቤት ውስጥ የሚጠይቁት፡</a:t>
            </a:r>
            <a:r>
              <a:rPr sz="1500">
                <a:solidFill>
                  <a:srgbClr val="2B1B1C"/>
                </a:solidFill>
                <a:latin typeface="Ebrima"/>
              </a:rPr>
              <a:t>  ትምህርቱን ለማጠናከር ለዕድሜ ተስማሚ ጥያቄዎችና የመጽሐፍ ቅዱስ ንባብ።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አስቀምጡ፣ አጋሩ፣ ይመልከቱ፡</a:t>
            </a:r>
            <a:r>
              <a:rPr sz="1500">
                <a:solidFill>
                  <a:srgbClr val="2B1B1C"/>
                </a:solidFill>
                <a:latin typeface="Ebrima"/>
              </a:rPr>
              <a:t>  ወሳኝ መልዕክቶችን ያስቀምጡ፣ ለሌላ ተጠሪ ያጋሩ፣ የቀደሙትን በወር ይመልከቱ።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4 · መገኘት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የክትትል መዝገብ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ወርሃዊ የቀን መቁጠሪያ፡</a:t>
            </a:r>
            <a:r>
              <a:rPr sz="1500">
                <a:solidFill>
                  <a:srgbClr val="2B1B1C"/>
                </a:solidFill>
                <a:latin typeface="Ebrima"/>
              </a:rPr>
              <a:t>  የተገኙ፣ በምክንያት የቀሩ፣ ያልተገኙና የሚመጡ እሑዶች በቀለም ተለይተው።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ግልጽ ቁጥሮች፡</a:t>
            </a:r>
            <a:r>
              <a:rPr sz="1500">
                <a:solidFill>
                  <a:srgbClr val="2B1B1C"/>
                </a:solidFill>
                <a:latin typeface="Ebrima"/>
              </a:rPr>
              <a:t>  የተካሄዱ ክፍለ ጊዜዎች፣ የተገኙባቸው፣ የቀሩና መቶኛ — ለእያንዳንዱ ልጅ ለየብቻ።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ምክንያት መላክ፡</a:t>
            </a:r>
            <a:r>
              <a:rPr sz="1500">
                <a:solidFill>
                  <a:srgbClr val="2B1B1C"/>
                </a:solidFill>
                <a:latin typeface="Ebrima"/>
              </a:rPr>
              <a:t>  የቀሪ ምክንያት ወይም የእርማት ጥያቄ ከመተግበሪያው ውስጥ ይላካል።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አስታዋሽ፡</a:t>
            </a:r>
            <a:r>
              <a:rPr sz="1500">
                <a:solidFill>
                  <a:srgbClr val="2B1B1C"/>
                </a:solidFill>
                <a:latin typeface="Ebrima"/>
              </a:rPr>
              <a:t>  ስለሚቀጥለው ክፍለ ጊዜ አስቀድሞ ማሳወቂያ።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አክብሮት የተሞላ፡</a:t>
            </a:r>
            <a:r>
              <a:rPr sz="1500">
                <a:solidFill>
                  <a:srgbClr val="2B1B1C"/>
                </a:solidFill>
                <a:latin typeface="Ebrima"/>
              </a:rPr>
              <a:t>  መገኘት ሲዛባ ደጋፊ መልዕክት እንጂ የሚያሳፍር ቃል የለም።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5 · ሪፖርቶች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ወርሃዊና የመንፈቅ ሪፖርት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monthly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በራስ-ሰር የሚዘጋጅ፡</a:t>
            </a:r>
            <a:r>
              <a:rPr sz="1500">
                <a:solidFill>
                  <a:srgbClr val="2B1B1C"/>
                </a:solidFill>
                <a:latin typeface="Ebrima"/>
              </a:rPr>
              <a:t>  ከክትትል መዝገብና ከተረጋገጡ ትምህርቶች ይዘጋጃል።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የታቀደ እና የተረጋገጠ ተለይቶ፡</a:t>
            </a:r>
            <a:r>
              <a:rPr sz="1500">
                <a:solidFill>
                  <a:srgbClr val="2B1B1C"/>
                </a:solidFill>
                <a:latin typeface="Ebrima"/>
              </a:rPr>
              <a:t>  የታቀዱ፣ የተሰጡና ያልተረጋገጡ ትምህርቶች በግልጽ።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የመምህሩ አስተያየት፡</a:t>
            </a:r>
            <a:r>
              <a:rPr sz="1500">
                <a:solidFill>
                  <a:srgbClr val="2B1B1C"/>
                </a:solidFill>
                <a:latin typeface="Ebrima"/>
              </a:rPr>
              <a:t>  ጥንካሬዎች፣ ድጋፍ የሚያስፈልጋቸው ነገሮችና መንፈሳዊ ማበረታቻ።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ያውርዱ · ያትሙ፡</a:t>
            </a:r>
            <a:r>
              <a:rPr sz="1500">
                <a:solidFill>
                  <a:srgbClr val="2B1B1C"/>
                </a:solidFill>
                <a:latin typeface="Ebrima"/>
              </a:rPr>
              <a:t>  ሪፖርቱን እንደ PDF ያስቀምጡ፤ የቀደሙ ሪፖርቶች መዝገብ ይቀመጣል።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«መረጃ የለም» ≠ «ደካማ ውጤት»፡</a:t>
            </a:r>
            <a:r>
              <a:rPr sz="1500">
                <a:solidFill>
                  <a:srgbClr val="2B1B1C"/>
                </a:solidFill>
                <a:latin typeface="Ebrima"/>
              </a:rPr>
              <a:t>  ያልተመዘገበ ነገር በግልጽ ይለያል።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6 · አስተያየት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የወላጅ አስተያየትና የቤተሰብ መረጃ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9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parent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አጭር ጥያቄዎች፡</a:t>
            </a:r>
            <a:r>
              <a:rPr sz="1500">
                <a:solidFill>
                  <a:srgbClr val="2B1B1C"/>
                </a:solidFill>
                <a:latin typeface="Ebrima"/>
              </a:rPr>
              <a:t>  ስለ ልጅዎ በቤት ውስጥ ያለው ባህሪ፣ ለወላጆች ያለው አክብሮት፣ መንፈሳዊ ተሳትፎ።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የዓለማዊ ትምህርት ችግሮች፡</a:t>
            </a:r>
            <a:r>
              <a:rPr sz="1500">
                <a:solidFill>
                  <a:srgbClr val="2B1B1C"/>
                </a:solidFill>
                <a:latin typeface="Ebrima"/>
              </a:rPr>
              <a:t>  መምህሩ ልጅዎን እንዲረዳ የሚያግዝ መረጃ ያጋሩ።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የሪፖርት ካርድ ፎቶ፡</a:t>
            </a:r>
            <a:r>
              <a:rPr sz="1500">
                <a:solidFill>
                  <a:srgbClr val="2B1B1C"/>
                </a:solidFill>
                <a:latin typeface="Ebrima"/>
              </a:rPr>
              <a:t>  የትምህርት ቤት ሪፖርት ካርድ ፎቶ በቀላሉ ይጫናል።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በሚመችዎት ጊዜ፡</a:t>
            </a:r>
            <a:r>
              <a:rPr sz="1500">
                <a:solidFill>
                  <a:srgbClr val="2B1B1C"/>
                </a:solidFill>
                <a:latin typeface="Ebrima"/>
              </a:rPr>
              <a:t>  ረቂቅ ያስቀምጡ፣ በኋላ ይቀጥሉ፣ ሲፈቀድ ያርሙ።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ሙሉ በሙሉ የግል፡</a:t>
            </a:r>
            <a:r>
              <a:rPr sz="1500">
                <a:solidFill>
                  <a:srgbClr val="2B1B1C"/>
                </a:solidFill>
                <a:latin typeface="Ebrima"/>
              </a:rPr>
              <a:t>  መልሶችዎን የሚያዩት የተፈቀደላቸው መምህራን ብቻ ናቸው — ሌላ ወላጅ በፍጹም አያይም።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7 · ግንኙነት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ከመምህር ጋር መልዕክትና ልዩ ትኩረት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teacher_mes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የግል ውይይት፡</a:t>
            </a:r>
            <a:r>
              <a:rPr sz="1500">
                <a:solidFill>
                  <a:srgbClr val="2B1B1C"/>
                </a:solidFill>
                <a:latin typeface="Ebrima"/>
              </a:rPr>
              <a:t>  ከልጅዎ መምህር ጋር ስለ ትምህርት፣ ክትትል ወይም እድገት ይጠይቁ፣ ይመልሱ።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ልዩ ትኩረት መልዕክቶች፡</a:t>
            </a:r>
            <a:r>
              <a:rPr sz="1500">
                <a:solidFill>
                  <a:srgbClr val="2B1B1C"/>
                </a:solidFill>
                <a:latin typeface="Ebrima"/>
              </a:rPr>
              <a:t>  ማበረታቻ፣ ቀደምት ድጋፍ ወይም የክትትል ጉዳይ — ለእርስዎ ብቻ።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የተስማማንበት ክትትል፡</a:t>
            </a:r>
            <a:r>
              <a:rPr sz="1500">
                <a:solidFill>
                  <a:srgbClr val="2B1B1C"/>
                </a:solidFill>
                <a:latin typeface="Ebrima"/>
              </a:rPr>
              <a:t>  የተወሰኑ እርምጃዎችና የግምገማ ቀን ይመዘገባሉ።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ቀጠሮ መጠየቅ፡</a:t>
            </a:r>
            <a:r>
              <a:rPr sz="1500">
                <a:solidFill>
                  <a:srgbClr val="2B1B1C"/>
                </a:solidFill>
                <a:latin typeface="Ebrima"/>
              </a:rPr>
              <a:t>  የወላጅ–መምህር ውይይት ቀጠሮ በቀላሉ።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የተከበረ ድንበር፡</a:t>
            </a:r>
            <a:r>
              <a:rPr sz="1500">
                <a:solidFill>
                  <a:srgbClr val="2B1B1C"/>
                </a:solidFill>
                <a:latin typeface="Ebrima"/>
              </a:rPr>
              <a:t>  የመልዕክት ሰዓትና የሪፖርት አማራጭ በትምህርት ቤቱ ፖሊሲ መሠረት።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8 · ማህበረሰብ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በዓላት፣ መልካም ምኞቶችና ማስታወቂያዎች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holidays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በቤተሰብዎ ስም የተዘጋጀ መልካም ምኞት፡</a:t>
            </a:r>
            <a:r>
              <a:rPr sz="1500">
                <a:solidFill>
                  <a:srgbClr val="2B1B1C"/>
                </a:solidFill>
                <a:latin typeface="Ebrima"/>
              </a:rPr>
              <a:t>  መስቀል፣ ገና፣ ጥምቀት፣ ፋሲካና ሌሎች በዓላት — በአማርኛና በእንግሊዝኛ።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የሚመጡ መርሐ ግብሮች፡</a:t>
            </a:r>
            <a:r>
              <a:rPr sz="1500">
                <a:solidFill>
                  <a:srgbClr val="2B1B1C"/>
                </a:solidFill>
                <a:latin typeface="Ebrima"/>
              </a:rPr>
              <a:t>  ቀን፣ ሰዓትና ቦታ ከአስታዋሽ ጋር፤ ለውጥ ወይም ስረዛ ካለ ወዲያውኑ።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የክፍል ማስታወቂያዎች፡</a:t>
            </a:r>
            <a:r>
              <a:rPr sz="1500">
                <a:solidFill>
                  <a:srgbClr val="2B1B1C"/>
                </a:solidFill>
                <a:latin typeface="Ebrima"/>
              </a:rPr>
              <a:t>  ለልጅዎ ክፍል ብቻ የሚመለከቱ መልዕክቶች።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የወላጆች ስብሰባ ግብዣ፡</a:t>
            </a:r>
            <a:r>
              <a:rPr sz="1500">
                <a:solidFill>
                  <a:srgbClr val="2B1B1C"/>
                </a:solidFill>
                <a:latin typeface="Ebrima"/>
              </a:rPr>
              <a:t>  «እገኛለሁ» በአንድ ንክኪ።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መዝገብ፡</a:t>
            </a:r>
            <a:r>
              <a:rPr sz="1500">
                <a:solidFill>
                  <a:srgbClr val="2B1B1C"/>
                </a:solidFill>
                <a:latin typeface="Ebrima"/>
              </a:rPr>
              <a:t>  የቀደሙ መልካም ምኞቶችና ማስታወቂያዎች ይቀመጣሉ።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9 · ማሳወቂያ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ማሳወቂያዎችና አስታዋሾች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ወቅታዊ ማሳወቂያ፡</a:t>
            </a:r>
            <a:r>
              <a:rPr sz="1500">
                <a:solidFill>
                  <a:srgbClr val="2B1B1C"/>
                </a:solidFill>
                <a:latin typeface="Ebrima"/>
              </a:rPr>
              <a:t>  አዲስ ትምህርት፣ ሪፖርት፣ ክትትል፣ የመምህር መልዕክት፣ በዓልና ስብሰባ።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በምድብ የሚመረጥ፡</a:t>
            </a:r>
            <a:r>
              <a:rPr sz="1500">
                <a:solidFill>
                  <a:srgbClr val="2B1B1C"/>
                </a:solidFill>
                <a:latin typeface="Ebrima"/>
              </a:rPr>
              <a:t>  የትኞቹን ማሳወቂያዎች መቀበል እንደሚፈልጉ ይወስናሉ።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ጸጥታ ሰዓት፡</a:t>
            </a:r>
            <a:r>
              <a:rPr sz="1500">
                <a:solidFill>
                  <a:srgbClr val="2B1B1C"/>
                </a:solidFill>
                <a:latin typeface="Ebrima"/>
              </a:rPr>
              <a:t>  በሌሊት ማሳወቂያ አይረብሽዎትም።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የተነበበ/ያልተነበበ፡</a:t>
            </a:r>
            <a:r>
              <a:rPr sz="1500">
                <a:solidFill>
                  <a:srgbClr val="2B1B1C"/>
                </a:solidFill>
                <a:latin typeface="Ebrima"/>
              </a:rPr>
              <a:t>  የማሳወቂያ ታሪክ በመተግበሪያው ውስጥ።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በመቆለፊያ ላይ ግላዊነት፡</a:t>
            </a:r>
            <a:r>
              <a:rPr sz="1500">
                <a:solidFill>
                  <a:srgbClr val="2B1B1C"/>
                </a:solidFill>
                <a:latin typeface="Ebrima"/>
              </a:rPr>
              <a:t>  የልጅዎ ስም ወይም ዝርዝር በስልክ መቆለፊያ ላይ አይታይም።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10 · መለያ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መለያ፣ ልጆችና ቅንብሮች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3657600" cy="3657600"/>
          </a:xfrm>
          <a:prstGeom prst="ellipse">
            <a:avLst/>
          </a:prstGeom>
          <a:solidFill>
            <a:srgbClr val="F6E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account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224028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0" y="1920240"/>
            <a:ext cx="6675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የተገናኙ ልጆች፡</a:t>
            </a:r>
            <a:r>
              <a:rPr sz="1500">
                <a:solidFill>
                  <a:srgbClr val="2B1B1C"/>
                </a:solidFill>
                <a:latin typeface="Ebrima"/>
              </a:rPr>
              <a:t>  ልጆችዎና ክፍሎቻቸው፣ የተጠሪነት ሁኔታና ሌሎች የተፈቀዱ ተጠሪዎች።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ታማኝ መሣሪያዎች፡</a:t>
            </a:r>
            <a:r>
              <a:rPr sz="1500">
                <a:solidFill>
                  <a:srgbClr val="2B1B1C"/>
                </a:solidFill>
                <a:latin typeface="Ebrima"/>
              </a:rPr>
              <a:t>  የትኞቹ ስልኮች መለያዎን እንደሚከፍቱ ይመልከቱ፤ የጠፋን ስልክ ያስወግዱ።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እርማት መጠየቅ፡</a:t>
            </a:r>
            <a:r>
              <a:rPr sz="1500">
                <a:solidFill>
                  <a:srgbClr val="2B1B1C"/>
                </a:solidFill>
                <a:latin typeface="Ebrima"/>
              </a:rPr>
              <a:t>  የወላጅ–ልጅ ግንኙነት ወይም መረጃ ስህተት ካለ ለቢሮው ያሳውቁ።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ለእርስዎ የሚመች፡</a:t>
            </a:r>
            <a:r>
              <a:rPr sz="1500">
                <a:solidFill>
                  <a:srgbClr val="2B1B1C"/>
                </a:solidFill>
                <a:latin typeface="Ebrima"/>
              </a:rPr>
              <a:t>  ቋንቋ፣ ትልቅ የጽሑፍ መጠን፣ የጣት አሻራ መግቢያ።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600">
                <a:solidFill>
                  <a:srgbClr val="521016"/>
                </a:solidFill>
                <a:latin typeface="Ebrima"/>
              </a:rPr>
              <a:t>●  ግላዊነትና እርዳታ፡</a:t>
            </a:r>
            <a:r>
              <a:rPr sz="1500">
                <a:solidFill>
                  <a:srgbClr val="2B1B1C"/>
                </a:solidFill>
                <a:latin typeface="Ebrima"/>
              </a:rPr>
              <a:t>  ማን ምን እንደሚያይ፣ የቢሮ ስልክና የመጀመሪያ አጠቃቀም መመሪያ።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መጀመር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እንዴት ይጀምራሉ? — በአራት ቀላል ደረጃዎች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691640"/>
            <a:ext cx="868680" cy="868680"/>
          </a:xfrm>
          <a:prstGeom prst="ellipse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69164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3B341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521016"/>
                </a:solidFill>
                <a:latin typeface="Ebrima"/>
              </a:rPr>
              <a:t>ወደ ምዝገባ ቢሮ ይምጡ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224028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2B1B1C"/>
                </a:solidFill>
                <a:latin typeface="Ebrima"/>
              </a:rPr>
              <a:t>በእሑድ ትምህርት ጊዜ ወይም በተገለጸው ቀን፣ መታወቂያዎን ይዘው።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01168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691640"/>
            <a:ext cx="868680" cy="868680"/>
          </a:xfrm>
          <a:prstGeom prst="ellipse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69164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3B341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521016"/>
                </a:solidFill>
                <a:latin typeface="Ebrima"/>
              </a:rPr>
              <a:t>መለያዎን ይቀበሉ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74720"/>
            <a:ext cx="224028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2B1B1C"/>
                </a:solidFill>
                <a:latin typeface="Ebrima"/>
              </a:rPr>
              <a:t>የወላጅ መታወቂያ ቁጥርና የአንድ ጊዜ ማግበሪያ ኮድ ይሰጥዎታል፤ ልጆችዎ ከመለያዎ ጋር ይገናኛሉ።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600" y="1691640"/>
            <a:ext cx="868680" cy="868680"/>
          </a:xfrm>
          <a:prstGeom prst="ellipse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69164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3B341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521016"/>
                </a:solidFill>
                <a:latin typeface="Ebrima"/>
              </a:rPr>
              <a:t>መተግበሪያውን ያግብሩ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224028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2B1B1C"/>
                </a:solidFill>
                <a:latin typeface="Ebrima"/>
              </a:rPr>
              <a:t>መተግበሪያውን ጭነው ቁጥሩንና ኮዱን ያስገቡ፣ የይለፍ ቃል ይፍጠሩ። ሠራተኞቻችን ያግዙዎታል።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201168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19" y="1691640"/>
            <a:ext cx="868680" cy="868680"/>
          </a:xfrm>
          <a:prstGeom prst="ellipse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1691640"/>
            <a:ext cx="8686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3B341"/>
                </a:solidFill>
                <a:latin typeface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697480"/>
            <a:ext cx="2240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521016"/>
                </a:solidFill>
                <a:latin typeface="Ebrima"/>
              </a:rPr>
              <a:t>በየቀኑ በቀላሉ ይግቡ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3474720"/>
            <a:ext cx="224028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2B1B1C"/>
                </a:solidFill>
                <a:latin typeface="Ebrima"/>
              </a:rPr>
              <a:t>ከዚያ በኋላ በጣት አሻራ ወይም በስልክ ፒን ብቻ — የይለፍ ቃል መጻፍ አያስፈልግም።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6A6B"/>
                </a:solidFill>
                <a:latin typeface="Ebrima"/>
              </a:rPr>
              <a:t>የመጀመሪያው ዙር ለፈቃደኛ ወላጆች ነው፤ ከዚያ ቀስ በቀስ ለሁሉም ቤተሰቦች ይስፋፋል።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3B341"/>
                </a:solidFill>
                <a:latin typeface="Ebrima"/>
              </a:rPr>
              <a:t>ቃል ኪዳናችን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Ebrima"/>
              </a:rPr>
              <a:t>ግላዊነት፣ ደህንነትና የቤተሰብ መተማመን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52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3B341"/>
                </a:solidFill>
                <a:latin typeface="Ebrima"/>
              </a:rPr>
              <a:t>ማን ምን ያያል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8463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የሚያዩት በይፋ ከእርስዎ ጋር የተገናኙ ልጆችዎን መረጃ ብቻ ነው።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የወላጅ አስተያየት፣ የሪፖርት ካርድና የግል መልዕክቶች ለሌላ ወላጅ በፍጹም አይታዩም።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ሠራተኞች የሚያዩት በሥራ ድርሻቸው የተፈቀደላቸውን ብቻ ነው፤ ሁሉም ተደራሽነት ይመዘገባል።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የተጠሪነት ግንኙነት ሲቀየር መዳረሻ ወዲያውኑ ይሰረዛል።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3B341"/>
                </a:solidFill>
                <a:latin typeface="Ebrima"/>
              </a:rPr>
              <a:t>መለያዎ እንዴት ይጠበቃል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8463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ኢሜይል፣ ኤስኤምኤስ ወይም የግል ስልክ ቁጥር ለመግቢያው አያስፈልግም።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የጠፋ ወይም የተቀየረ ስልክ መዳረሻ በእርስዎ ወይም በቢሮው ይሰረዛል።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በስልክ መቆለፊያ ላይ የልጅ ስም ወይም ዝርዝር አይታይም።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FFFFFF"/>
                </a:solidFill>
                <a:latin typeface="Ebrima"/>
              </a:rPr>
              <a:t>●  የሚያስፈልጉ መረጃዎች ብቻ ይቀመጣሉ፤ የመቆያ ጊዜና የመሰረዝ ደንብ ይኖራል።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AA7"/>
                </a:solidFill>
                <a:latin typeface="Ebrima"/>
              </a:rPr>
              <a:t>የትግበራ ምዕራፎች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21016"/>
                </a:solidFill>
                <a:latin typeface="Ebrima"/>
              </a:rPr>
              <a:t>በደረጃ የሚመጣ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12801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የወላጆች መተግበሪያ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3429000" cy="777240"/>
          </a:xfrm>
          <a:prstGeom prst="roundRect">
            <a:avLst>
              <a:gd name="adj" fmla="val 30000"/>
            </a:avLst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3429000" cy="365760"/>
          </a:xfrm>
          <a:prstGeom prst="rect">
            <a:avLst/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Ebrima"/>
              </a:rPr>
              <a:t>ምዕራፍ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76272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Ebrima"/>
              </a:rPr>
              <a:t>መሠረታዊ አገልግሎት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1089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መለያ ማግበርና መግቢያ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የልጆች ግንኙነት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መነሻ ገጽ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ዕለታዊ ትምህርት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ክትትል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ወርሃዊ ሪፖርት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ማሳወቂያዎች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የወላጅ አስተያየት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429000" cy="777240"/>
          </a:xfrm>
          <a:prstGeom prst="roundRect">
            <a:avLst>
              <a:gd name="adj" fmla="val 30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240280"/>
            <a:ext cx="3429000" cy="3657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Ebrima"/>
              </a:rPr>
              <a:t>ምዕራፍ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76272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Ebrima"/>
              </a:rPr>
              <a:t>ግንኙነትና ተሳትፎ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88920"/>
            <a:ext cx="31089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ከመምህር ጋር የግል መልዕክት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ልዩ ትኩረት ክትትል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የበዓል መልካም ምኞቶች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የመርሐ ግብር ማስታወቂያዎች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በቤት መማሪያ ግብዓቶች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1828800"/>
            <a:ext cx="3429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6E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9" y="1828800"/>
            <a:ext cx="3429000" cy="777240"/>
          </a:xfrm>
          <a:prstGeom prst="roundRect">
            <a:avLst>
              <a:gd name="adj" fmla="val 3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240280"/>
            <a:ext cx="3429000" cy="36576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21016"/>
                </a:solidFill>
                <a:latin typeface="Ebrima"/>
              </a:rPr>
              <a:t>ምዕራፍ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176272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21016"/>
                </a:solidFill>
                <a:latin typeface="Ebrima"/>
              </a:rPr>
              <a:t>የላቀ ተሞክሮ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788920"/>
            <a:ext cx="31089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የድምፅ ትምህርት ማጠቃለያ በአማርኛ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ዝርዝር የእድገት ግራፎች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የቤተሰብ ተሳትፎ ታሪክ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50">
                <a:solidFill>
                  <a:srgbClr val="2B1B1C"/>
                </a:solidFill>
                <a:latin typeface="Ebrima"/>
              </a:rPr>
              <a:t>●  ተጨማሪ ትምህርታዊ ግብዓቶች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7A6A6B"/>
                </a:solidFill>
                <a:latin typeface="Ebrima"/>
              </a:rPr>
              <a:t>ዛሬ የሚታየው ንድፍ ነው፤ የመጀመሪያው ምዕራፍ ከወላጆች አስተያየት በኋላ ይገነባል።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ircl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73152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Ebrima"/>
              </a:rPr>
              <a:t>አስተያየትዎ ይጠቅመናል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6E7BD"/>
                </a:solidFill>
                <a:latin typeface="Ebrima"/>
              </a:rPr>
              <a:t>የትኛው ባህሪ ለእርስዎ በጣም ይጠቅማል? ምን ጎደለ? መተግበሪያው የሚገነባው ከእርስዎ መልስ በኋላ ነው።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846320"/>
            <a:ext cx="5943600" cy="914400"/>
          </a:xfrm>
          <a:prstGeom prst="roundRect">
            <a:avLst>
              <a:gd name="adj" fmla="val 30000"/>
            </a:avLst>
          </a:prstGeom>
          <a:solidFill>
            <a:srgbClr val="6F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484632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3B341"/>
                </a:solidFill>
                <a:latin typeface="Ebrima"/>
              </a:rPr>
              <a:t>የሰንበት ትምህርት ቤቱ ምዝገባ ቢሮ  ·  በእሑድ ትምህርት ጊዜ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6E7BD"/>
                </a:solidFill>
                <a:latin typeface="Ebrima"/>
              </a:rPr>
              <a:t>ፈለገ ቅዱሳን ሰንበት ትምህርት ቤት  ·  የቦሌ ቡልቡላ ቅድስት ድንግል ማርያም እና መ/መ/ቅ/ዮሐንስ ቤ/ክ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